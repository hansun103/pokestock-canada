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1667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581639-5E95-4363-8E7A-BF423FEBCF82}"/>
              </a:ext>
            </a:extLst>
          </p:cNvPr>
          <p:cNvSpPr>
            <a:spLocks noGrp="1"/>
          </p:cNvSpPr>
          <p:nvPr/>
        </p:nvSpPr>
        <p:spPr>
          <a:xfrm>
            <a:off x="0" y="5676900"/>
            <a:ext cx="12192000" cy="118110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2A0A49-0201-4276-AC9E-22EC0643F504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D74B"/>
                </a:solidFill>
              </a:defRPr>
            </a:pPr>
            <a:r>
              <a:rPr sz="975" b="1">
                <a:solidFill>
                  <a:srgbClr val="FFD74B"/>
                </a:solidFill>
              </a:rPr>
              <a:t>CANADIAN COLLECTORS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CFA3D8-78C6-4B19-98F6-C1A3B41162D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Catch fair-price Pokémon TCG drops before sellout.</a:t>
            </a:r>
          </a:p>
        </p:txBody>
      </p:sp>
      <p:pic>
        <p:nvPicPr>
          <p:cNvPr id="6" name="scene-01">
            <a:hlinkClick r:id="" action="ppaction://media"/>
            <a:extLst>
              <a:ext uri="{FF2B5EF4-FFF2-40B4-BE49-F238E27FC236}">
                <a16:creationId xmlns:a16="http://schemas.microsoft.com/office/drawing/2014/main" id="{B61182D7-738C-CE79-C94D-28EA79B704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10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270"/>
    </mc:Choice>
    <mc:Fallback>
      <p:transition spd="slow" advClick="0" advTm="18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9E35F25-D11B-4DFC-A37D-61DCA7BD348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THE COLLECTOR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3F654-BAA1-45A1-A2CC-A75206466F6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The useful moment happens before stock goes live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05CAAF-17B0-489D-BBAD-989E459B7EF3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Official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56755-4FD1-4A07-BDB5-07188E1AF917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When Pokémon says the product launches.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9CC23-F7CE-47C4-9052-11995E535A64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First Canadian listing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1D4C4-E3F1-4C6A-83C2-39432E7E14FC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When collectors can actually preorder or buy.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7B68DB-4D71-4527-975F-662E9DAB3AC4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>
                <a:solidFill>
                  <a:srgbClr val="ED5A53"/>
                </a:solidFill>
              </a:defRPr>
            </a:pPr>
            <a:r>
              <a:rPr sz="1350" b="1">
                <a:solidFill>
                  <a:srgbClr val="ED5A53"/>
                </a:solidFill>
              </a:rPr>
              <a:t>Current availability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4F8CE-AAA1-4034-BCBC-769690DB95D4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A dated observation—not a permanent stock guarantee.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rcRect t="42511" b="42511"/>
          <a:stretch>
            <a:fillRect/>
          </a:stretch>
        </p:blipFill>
        <p:spPr>
          <a:xfrm>
            <a:off x="4381500" y="1257300"/>
            <a:ext cx="7200900" cy="4381500"/>
          </a:xfrm>
          <a:prstGeom prst="roundRect">
            <a:avLst>
              <a:gd name="adj" fmla="val 2609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AA2EEB-0718-4AF3-814F-4A908C8C3BC9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3F0BAC-F514-472C-AC82-4E744B2EDC0C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99DF8-51A6-4597-9A6D-183FD9D171EB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PokéStock separates release dates, buying dates, and current stock.</a:t>
            </a:r>
          </a:p>
        </p:txBody>
      </p:sp>
      <p:pic>
        <p:nvPicPr>
          <p:cNvPr id="9" name="scene-02">
            <a:hlinkClick r:id="" action="ppaction://media"/>
            <a:extLst>
              <a:ext uri="{FF2B5EF4-FFF2-40B4-BE49-F238E27FC236}">
                <a16:creationId xmlns:a16="http://schemas.microsoft.com/office/drawing/2014/main" id="{D6F97334-FC4A-DCDC-8015-0C3487C906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86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570"/>
    </mc:Choice>
    <mc:Fallback>
      <p:transition spd="slow" advClick="0" advTm="15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96827D3-061F-42D6-ADF4-27429B52280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SOURCE TO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3CE16C-0CC1-4B0C-83B6-2CCF3F335A2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Public signals become validated collector actions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6D3FC3A-4F93-443C-BC17-83479C1042AF}"/>
              </a:ext>
            </a:extLst>
          </p:cNvPr>
          <p:cNvSpPr>
            <a:spLocks noGrp="1"/>
          </p:cNvSpPr>
          <p:nvPr/>
        </p:nvSpPr>
        <p:spPr>
          <a:xfrm>
            <a:off x="2209800" y="2600325"/>
            <a:ext cx="666750" cy="323850"/>
          </a:xfrm>
          <a:prstGeom prst="rightArrow">
            <a:avLst/>
          </a:prstGeom>
          <a:solidFill>
            <a:srgbClr val="ED5A53"/>
          </a:solidFill>
          <a:ln w="0">
            <a:solidFill>
              <a:srgbClr val="ED5A53"/>
            </a:solidFill>
            <a:prstDash val="solid"/>
          </a:ln>
        </p:spPr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423A4CF-CF4F-47F8-94C5-40C82826A19D}"/>
              </a:ext>
            </a:extLst>
          </p:cNvPr>
          <p:cNvSpPr>
            <a:spLocks noGrp="1"/>
          </p:cNvSpPr>
          <p:nvPr/>
        </p:nvSpPr>
        <p:spPr>
          <a:xfrm>
            <a:off x="4533900" y="2600325"/>
            <a:ext cx="666750" cy="323850"/>
          </a:xfrm>
          <a:prstGeom prst="rightArrow">
            <a:avLst/>
          </a:prstGeom>
          <a:solidFill>
            <a:srgbClr val="ED5A53"/>
          </a:solidFill>
          <a:ln w="0">
            <a:solidFill>
              <a:srgbClr val="ED5A53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85A2ADC-618F-4D4B-90E5-B820786F10DE}"/>
              </a:ext>
            </a:extLst>
          </p:cNvPr>
          <p:cNvSpPr>
            <a:spLocks noGrp="1"/>
          </p:cNvSpPr>
          <p:nvPr/>
        </p:nvSpPr>
        <p:spPr>
          <a:xfrm>
            <a:off x="6858000" y="2600325"/>
            <a:ext cx="666750" cy="323850"/>
          </a:xfrm>
          <a:prstGeom prst="rightArrow">
            <a:avLst/>
          </a:prstGeom>
          <a:solidFill>
            <a:srgbClr val="ED5A53"/>
          </a:solidFill>
          <a:ln w="0">
            <a:solidFill>
              <a:srgbClr val="ED5A53"/>
            </a:solidFill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B4BE118-5CBB-4C01-A62A-5D67CEC2C3B7}"/>
              </a:ext>
            </a:extLst>
          </p:cNvPr>
          <p:cNvSpPr>
            <a:spLocks noGrp="1"/>
          </p:cNvSpPr>
          <p:nvPr/>
        </p:nvSpPr>
        <p:spPr>
          <a:xfrm>
            <a:off x="9182100" y="2600325"/>
            <a:ext cx="666750" cy="323850"/>
          </a:xfrm>
          <a:prstGeom prst="rightArrow">
            <a:avLst/>
          </a:prstGeom>
          <a:solidFill>
            <a:srgbClr val="ED5A53"/>
          </a:solidFill>
          <a:ln w="0">
            <a:solidFill>
              <a:srgbClr val="ED5A53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4FD60E-D402-4421-A040-5E44556D1D0F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41EC4C-171C-4DB2-B1CC-BF2FEFEB7A7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OFFICIAL NEWS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9564B-DABD-465A-AAE1-3E41E04CDC41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504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Dated product and release signals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5B4BC7-6BC4-4429-9741-05708BAF7A49}"/>
              </a:ext>
            </a:extLst>
          </p:cNvPr>
          <p:cNvSpPr>
            <a:spLocks noGrp="1"/>
          </p:cNvSpPr>
          <p:nvPr/>
        </p:nvSpPr>
        <p:spPr>
          <a:xfrm>
            <a:off x="2838450" y="19240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0994BC-A1AD-4B54-B785-7E52E5204CC1}"/>
              </a:ext>
            </a:extLst>
          </p:cNvPr>
          <p:cNvSpPr>
            <a:spLocks noGrp="1"/>
          </p:cNvSpPr>
          <p:nvPr/>
        </p:nvSpPr>
        <p:spPr>
          <a:xfrm>
            <a:off x="3009900" y="21526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NORMALIZE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1879D4-D0B2-4470-B2B7-545060658B31}"/>
              </a:ext>
            </a:extLst>
          </p:cNvPr>
          <p:cNvSpPr>
            <a:spLocks noGrp="1"/>
          </p:cNvSpPr>
          <p:nvPr/>
        </p:nvSpPr>
        <p:spPr>
          <a:xfrm>
            <a:off x="2990850" y="2514600"/>
            <a:ext cx="1504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Products, regions, events, and dates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712C09-6B2F-4AE5-81F4-D7CC84109D0D}"/>
              </a:ext>
            </a:extLst>
          </p:cNvPr>
          <p:cNvSpPr>
            <a:spLocks noGrp="1"/>
          </p:cNvSpPr>
          <p:nvPr/>
        </p:nvSpPr>
        <p:spPr>
          <a:xfrm>
            <a:off x="5162550" y="19240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D74B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20774C-55A2-4528-B8C1-2ECCDEB68817}"/>
              </a:ext>
            </a:extLst>
          </p:cNvPr>
          <p:cNvSpPr>
            <a:spLocks noGrp="1"/>
          </p:cNvSpPr>
          <p:nvPr/>
        </p:nvSpPr>
        <p:spPr>
          <a:xfrm>
            <a:off x="5334000" y="21526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REASON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ED480-DE4A-4A6F-AD68-F4F268443D75}"/>
              </a:ext>
            </a:extLst>
          </p:cNvPr>
          <p:cNvSpPr>
            <a:spLocks noGrp="1"/>
          </p:cNvSpPr>
          <p:nvPr/>
        </p:nvSpPr>
        <p:spPr>
          <a:xfrm>
            <a:off x="5314950" y="2514600"/>
            <a:ext cx="1504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Optional GPT outlook from supplied evidence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FA565E-7C5D-41FB-82C0-1785F1E7735C}"/>
              </a:ext>
            </a:extLst>
          </p:cNvPr>
          <p:cNvSpPr>
            <a:spLocks noGrp="1"/>
          </p:cNvSpPr>
          <p:nvPr/>
        </p:nvSpPr>
        <p:spPr>
          <a:xfrm>
            <a:off x="7486650" y="19240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2DAF1-A6E2-4356-84CC-9FF8D3956EA5}"/>
              </a:ext>
            </a:extLst>
          </p:cNvPr>
          <p:cNvSpPr>
            <a:spLocks noGrp="1"/>
          </p:cNvSpPr>
          <p:nvPr/>
        </p:nvSpPr>
        <p:spPr>
          <a:xfrm>
            <a:off x="7658100" y="21526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VALIDATE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9BD9B4-EE77-4835-8A25-04CD3B6FDDD0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1504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Deterministic state and regional rules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B61C85A-6BF9-487D-9CC2-D05A8C323BD8}"/>
              </a:ext>
            </a:extLst>
          </p:cNvPr>
          <p:cNvSpPr>
            <a:spLocks noGrp="1"/>
          </p:cNvSpPr>
          <p:nvPr/>
        </p:nvSpPr>
        <p:spPr>
          <a:xfrm>
            <a:off x="9810750" y="1924050"/>
            <a:ext cx="1809750" cy="17145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F24D80-C630-4FD6-8F9A-1CD2DBCE3AD5}"/>
              </a:ext>
            </a:extLst>
          </p:cNvPr>
          <p:cNvSpPr>
            <a:spLocks noGrp="1"/>
          </p:cNvSpPr>
          <p:nvPr/>
        </p:nvSpPr>
        <p:spPr>
          <a:xfrm>
            <a:off x="9982200" y="215265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02A2E"/>
                </a:solidFill>
              </a:defRPr>
            </a:pPr>
            <a:r>
              <a:rPr sz="1125" b="1">
                <a:solidFill>
                  <a:srgbClr val="102A2E"/>
                </a:solidFill>
              </a:rPr>
              <a:t>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F8C889-56F7-42D8-80E3-8E42B66059DA}"/>
              </a:ext>
            </a:extLst>
          </p:cNvPr>
          <p:cNvSpPr>
            <a:spLocks noGrp="1"/>
          </p:cNvSpPr>
          <p:nvPr/>
        </p:nvSpPr>
        <p:spPr>
          <a:xfrm>
            <a:off x="9963150" y="2514600"/>
            <a:ext cx="15049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>
                <a:solidFill>
                  <a:srgbClr val="365157"/>
                </a:solidFill>
              </a:defRPr>
            </a:pPr>
            <a:r>
              <a:rPr sz="1275">
                <a:solidFill>
                  <a:srgbClr val="365157"/>
                </a:solidFill>
              </a:rPr>
              <a:t>Website data and change-only alerts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76C6B9-772F-4031-8CFE-FAFF88CF88EA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02A2E"/>
                </a:solidFill>
              </a:defRPr>
            </a:pPr>
            <a:r>
              <a:rPr sz="2025" b="1">
                <a:solidFill>
                  <a:srgbClr val="102A2E"/>
                </a:solidFill>
              </a:rPr>
              <a:t>One evidence chain powers both the dashboard and alerts.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2A9775-52C7-4AA5-B099-4963D0653119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C23C80-364F-4948-95C2-28EF289F825E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4CF0F7-C17D-417C-AF50-DC6CA2FC2121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Every alert remains linked to the dated signal that caused it.</a:t>
            </a:r>
          </a:p>
        </p:txBody>
      </p:sp>
      <p:pic>
        <p:nvPicPr>
          <p:cNvPr id="27" name="scene-03">
            <a:hlinkClick r:id="" action="ppaction://media"/>
            <a:extLst>
              <a:ext uri="{FF2B5EF4-FFF2-40B4-BE49-F238E27FC236}">
                <a16:creationId xmlns:a16="http://schemas.microsoft.com/office/drawing/2014/main" id="{2DDA658C-79AA-0E6D-176F-162E92A314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42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700"/>
    </mc:Choice>
    <mc:Fallback>
      <p:transition spd="slow" advClick="0" advTm="16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C9E5A0-72EE-43E9-A4B6-F629162BC76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EARLY-SIGNAL RADAR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47801B-DC28-4054-B4EC-2B100EFACF5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Show collectors what to do next—not just what already sold out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t="22569" b="22569"/>
          <a:stretch>
            <a:fillRect/>
          </a:stretch>
        </p:blipFill>
        <p:spPr>
          <a:xfrm>
            <a:off x="609600" y="1200150"/>
            <a:ext cx="10972800" cy="4514850"/>
          </a:xfrm>
          <a:prstGeom prst="roundRect">
            <a:avLst>
              <a:gd name="adj" fmla="val 2532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03B16A-203A-44CA-93B5-16090A4FAB6D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BBEFEA-D3B0-4FBA-BA22-378380065DA4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31DFF-0C0C-4A1F-9C10-D381982D3913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Filter by watch stage and sort by the closest estimated action date.</a:t>
            </a:r>
          </a:p>
        </p:txBody>
      </p:sp>
      <p:pic>
        <p:nvPicPr>
          <p:cNvPr id="3" name="scene-04">
            <a:hlinkClick r:id="" action="ppaction://media"/>
            <a:extLst>
              <a:ext uri="{FF2B5EF4-FFF2-40B4-BE49-F238E27FC236}">
                <a16:creationId xmlns:a16="http://schemas.microsoft.com/office/drawing/2014/main" id="{7A4B4F4A-6A0A-5DF6-3839-2DE4EDFE9B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73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420"/>
    </mc:Choice>
    <mc:Fallback>
      <p:transition spd="slow" advClick="0" advTm="13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BE037E9-CEB9-428A-A3E1-69F3D07F599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GPT-5.6 REASONING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31CAF-4612-4307-B37C-6AE81A5B6BD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The model explains the window; it does not invent the evidence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1FC595-E150-4704-9830-94F27CAE9A4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3810000" cy="409575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9525">
            <a:solidFill>
              <a:srgbClr val="D8DED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A988B-95BB-440B-9E70-849B52FF8A73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C3F51-C12D-4CA2-8AB7-76618B268469}"/>
              </a:ext>
            </a:extLst>
          </p:cNvPr>
          <p:cNvSpPr>
            <a:spLocks noGrp="1"/>
          </p:cNvSpPr>
          <p:nvPr/>
        </p:nvSpPr>
        <p:spPr>
          <a:xfrm>
            <a:off x="1409700" y="158115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Connectors discover links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98488-EC7B-48BF-BEF3-8EC901A8AB7D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5DD4A-4BC1-49D9-9F92-61C67C5F73D2}"/>
              </a:ext>
            </a:extLst>
          </p:cNvPr>
          <p:cNvSpPr>
            <a:spLocks noGrp="1"/>
          </p:cNvSpPr>
          <p:nvPr/>
        </p:nvSpPr>
        <p:spPr>
          <a:xfrm>
            <a:off x="1409700" y="2590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GPT compares dated signals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D04AC-2855-4706-9BB9-19360438608B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26FAD9-E982-4FC3-BEC4-05A2D25E6FCA}"/>
              </a:ext>
            </a:extLst>
          </p:cNvPr>
          <p:cNvSpPr>
            <a:spLocks noGrp="1"/>
          </p:cNvSpPr>
          <p:nvPr/>
        </p:nvSpPr>
        <p:spPr>
          <a:xfrm>
            <a:off x="1409700" y="3581400"/>
            <a:ext cx="266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The UI labels the result as an estimate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52049A-093C-478C-B366-F2D03ED96060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>
                <a:solidFill>
                  <a:srgbClr val="365157"/>
                </a:solidFill>
              </a:defRPr>
            </a:pPr>
            <a:r>
              <a:rPr sz="1350">
                <a:solidFill>
                  <a:srgbClr val="365157"/>
                </a:solidFill>
              </a:rPr>
              <a:t>Official dates always remain separate.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rcRect t="1955" b="1955"/>
          <a:stretch>
            <a:fillRect/>
          </a:stretch>
        </p:blipFill>
        <p:spPr>
          <a:xfrm>
            <a:off x="4762500" y="1314450"/>
            <a:ext cx="68199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D5C294-EFDB-4187-8345-319A12E71669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B4679C-2C88-4CFF-8034-058C833A05AD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6EDD9-F3A5-47C1-B39C-265FF7190E21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GPT reasons over supplied evidence; deterministic code validates the result.</a:t>
            </a:r>
          </a:p>
        </p:txBody>
      </p:sp>
      <p:pic>
        <p:nvPicPr>
          <p:cNvPr id="11" name="scene-05">
            <a:hlinkClick r:id="" action="ppaction://media"/>
            <a:extLst>
              <a:ext uri="{FF2B5EF4-FFF2-40B4-BE49-F238E27FC236}">
                <a16:creationId xmlns:a16="http://schemas.microsoft.com/office/drawing/2014/main" id="{FA8C8530-182E-9B53-8C71-CF41BBAF4F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9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B8646C5-11FD-44B3-A7E9-477CC96744F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DETERMINISTIC SAFEGUARDS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7D4CBA-1D6F-4143-A644-5B47CF14CD8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Canadian evidence controls Canadian availability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213B740-0679-44CB-8EC3-0258203EB78D}"/>
              </a:ext>
            </a:extLst>
          </p:cNvPr>
          <p:cNvSpPr>
            <a:spLocks noGrp="1"/>
          </p:cNvSpPr>
          <p:nvPr/>
        </p:nvSpPr>
        <p:spPr>
          <a:xfrm>
            <a:off x="2209800" y="2647950"/>
            <a:ext cx="628650" cy="285750"/>
          </a:xfrm>
          <a:prstGeom prst="rightArrow">
            <a:avLst/>
          </a:prstGeom>
          <a:solidFill>
            <a:srgbClr val="D8DED8"/>
          </a:solidFill>
          <a:ln w="0">
            <a:solidFill>
              <a:srgbClr val="D8DED8"/>
            </a:solidFill>
            <a:prstDash val="solid"/>
          </a:ln>
        </p:spPr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C89CF4E-5F39-4BC7-8F8D-2512FAF28197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628650" cy="285750"/>
          </a:xfrm>
          <a:prstGeom prst="rightArrow">
            <a:avLst/>
          </a:prstGeom>
          <a:solidFill>
            <a:srgbClr val="D8DED8"/>
          </a:solidFill>
          <a:ln w="0">
            <a:solidFill>
              <a:srgbClr val="D8DED8"/>
            </a:solidFill>
            <a:prstDash val="solid"/>
          </a:ln>
        </p:spPr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A2516F1-89C4-47CE-B0F0-4659A7656000}"/>
              </a:ext>
            </a:extLst>
          </p:cNvPr>
          <p:cNvSpPr>
            <a:spLocks noGrp="1"/>
          </p:cNvSpPr>
          <p:nvPr/>
        </p:nvSpPr>
        <p:spPr>
          <a:xfrm>
            <a:off x="6553200" y="2647950"/>
            <a:ext cx="628650" cy="285750"/>
          </a:xfrm>
          <a:prstGeom prst="rightArrow">
            <a:avLst/>
          </a:prstGeom>
          <a:solidFill>
            <a:srgbClr val="D8DED8"/>
          </a:solidFill>
          <a:ln w="0">
            <a:solidFill>
              <a:srgbClr val="D8DED8"/>
            </a:solidFill>
            <a:prstDash val="solid"/>
          </a:ln>
        </p:spPr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95DBFC2-3E64-4E7B-B4AC-06CCBECCE847}"/>
              </a:ext>
            </a:extLst>
          </p:cNvPr>
          <p:cNvSpPr>
            <a:spLocks noGrp="1"/>
          </p:cNvSpPr>
          <p:nvPr/>
        </p:nvSpPr>
        <p:spPr>
          <a:xfrm>
            <a:off x="8724900" y="2647950"/>
            <a:ext cx="628650" cy="285750"/>
          </a:xfrm>
          <a:prstGeom prst="rightArrow">
            <a:avLst/>
          </a:prstGeom>
          <a:solidFill>
            <a:srgbClr val="D8DED8"/>
          </a:solidFill>
          <a:ln w="0">
            <a:solidFill>
              <a:srgbClr val="D8DED8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D092D4-FA62-4BF8-B97E-86792FABAF04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B9DDD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5C891-692E-4A32-9492-E9408EC4F61E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PRODUCT</a:t>
            </a:r>
          </a:p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CONFIRMED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12C87F-3CB5-4840-89A9-AA547B4C8AD6}"/>
              </a:ext>
            </a:extLst>
          </p:cNvPr>
          <p:cNvSpPr>
            <a:spLocks noGrp="1"/>
          </p:cNvSpPr>
          <p:nvPr/>
        </p:nvSpPr>
        <p:spPr>
          <a:xfrm>
            <a:off x="2781300" y="21526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D74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27055-D05D-4613-A19E-837730AAA09E}"/>
              </a:ext>
            </a:extLst>
          </p:cNvPr>
          <p:cNvSpPr>
            <a:spLocks noGrp="1"/>
          </p:cNvSpPr>
          <p:nvPr/>
        </p:nvSpPr>
        <p:spPr>
          <a:xfrm>
            <a:off x="2914650" y="238125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PREPARE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E14660-A0A1-4401-AF65-E94C8221BEE2}"/>
              </a:ext>
            </a:extLst>
          </p:cNvPr>
          <p:cNvSpPr>
            <a:spLocks noGrp="1"/>
          </p:cNvSpPr>
          <p:nvPr/>
        </p:nvSpPr>
        <p:spPr>
          <a:xfrm>
            <a:off x="4953000" y="21526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D8F2D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FC20C0-0C39-444D-AB01-273BCDE4028B}"/>
              </a:ext>
            </a:extLst>
          </p:cNvPr>
          <p:cNvSpPr>
            <a:spLocks noGrp="1"/>
          </p:cNvSpPr>
          <p:nvPr/>
        </p:nvSpPr>
        <p:spPr>
          <a:xfrm>
            <a:off x="5086350" y="238125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LIVE NOW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B95240-06D0-4B50-932C-FEAA4DA6CBF4}"/>
              </a:ext>
            </a:extLst>
          </p:cNvPr>
          <p:cNvSpPr>
            <a:spLocks noGrp="1"/>
          </p:cNvSpPr>
          <p:nvPr/>
        </p:nvSpPr>
        <p:spPr>
          <a:xfrm>
            <a:off x="7124700" y="21526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EEE7E0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D1205-E198-4693-9193-85E0299AF7B9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SOLD OUT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E2F3E-DFA1-4E2F-97FC-4DD5EF6DD951}"/>
              </a:ext>
            </a:extLst>
          </p:cNvPr>
          <p:cNvSpPr>
            <a:spLocks noGrp="1"/>
          </p:cNvSpPr>
          <p:nvPr/>
        </p:nvSpPr>
        <p:spPr>
          <a:xfrm>
            <a:off x="9296400" y="2152650"/>
            <a:ext cx="1714500" cy="1238250"/>
          </a:xfrm>
          <a:prstGeom prst="roundRect">
            <a:avLst>
              <a:gd name="adj" fmla="val 9231"/>
            </a:avLst>
          </a:prstGeom>
          <a:solidFill>
            <a:srgbClr val="FFE39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A391F6-5F17-481E-AB22-2610A1875C11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1447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02A2E"/>
                </a:solidFill>
              </a:defRPr>
            </a:pPr>
            <a:r>
              <a:rPr sz="1425" b="1">
                <a:solidFill>
                  <a:srgbClr val="102A2E"/>
                </a:solidFill>
              </a:rPr>
              <a:t>RESTOCK WATCH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749B1E-765C-4EE1-B346-D022997F2629}"/>
              </a:ext>
            </a:extLst>
          </p:cNvPr>
          <p:cNvSpPr>
            <a:spLocks noGrp="1"/>
          </p:cNvSpPr>
          <p:nvPr/>
        </p:nvSpPr>
        <p:spPr>
          <a:xfrm>
            <a:off x="1238250" y="4019550"/>
            <a:ext cx="9715500" cy="990600"/>
          </a:xfrm>
          <a:prstGeom prst="roundRect">
            <a:avLst>
              <a:gd name="adj" fmla="val 11538"/>
            </a:avLst>
          </a:prstGeom>
          <a:solidFill>
            <a:srgbClr val="E8EEF8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D7F70-552D-42A6-8A5E-805CB8E88E36}"/>
              </a:ext>
            </a:extLst>
          </p:cNvPr>
          <p:cNvSpPr>
            <a:spLocks noGrp="1"/>
          </p:cNvSpPr>
          <p:nvPr/>
        </p:nvSpPr>
        <p:spPr>
          <a:xfrm>
            <a:off x="1562100" y="4191000"/>
            <a:ext cx="9067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02A2E"/>
                </a:solidFill>
              </a:defRPr>
            </a:pPr>
            <a:r>
              <a:rPr sz="1575" b="1">
                <a:solidFill>
                  <a:srgbClr val="102A2E"/>
                </a:solidFill>
              </a:rPr>
              <a:t>Global availability can add context—but only Canadian evidence can trigger Live now or Sold out. Restock watch requires an explicit dated restock announcement.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AC982-D12F-43BD-BCD9-41D856155D2D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F888E5-CC79-4B01-8878-044AE4258477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54FBD-C9E4-4A01-A1A9-B94DD5E0FF24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Weaker global evidence can never overwrite a stronger Canadian state.</a:t>
            </a:r>
          </a:p>
        </p:txBody>
      </p:sp>
      <p:pic>
        <p:nvPicPr>
          <p:cNvPr id="23" name="scene-06">
            <a:hlinkClick r:id="" action="ppaction://media"/>
            <a:extLst>
              <a:ext uri="{FF2B5EF4-FFF2-40B4-BE49-F238E27FC236}">
                <a16:creationId xmlns:a16="http://schemas.microsoft.com/office/drawing/2014/main" id="{935A829A-4D03-EAE0-C2C3-EABC191ED0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90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770"/>
    </mc:Choice>
    <mc:Fallback>
      <p:transition spd="slow" advClick="0" advTm="177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45A6AA-F2EF-46FF-B001-E6A02BD546B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RELEASE RADAR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6ABC7F-1F19-436E-B7BF-5344CC3F82E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Completed opportunities remain useful as dated history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rcRect t="27299" b="27299"/>
          <a:stretch>
            <a:fillRect/>
          </a:stretch>
        </p:blipFill>
        <p:spPr>
          <a:xfrm>
            <a:off x="609600" y="1200150"/>
            <a:ext cx="10972800" cy="4514850"/>
          </a:xfrm>
          <a:prstGeom prst="roundRect">
            <a:avLst>
              <a:gd name="adj" fmla="val 2532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2C9E0A-8FC5-49E8-AA80-F99E9090F7A1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69A7B6-1BAE-4E8A-BA8D-6D9ED1A71D20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3222F0-A547-4A65-A367-DE24C47C043C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First seen, price, official release, source, and last check stay visible.</a:t>
            </a:r>
          </a:p>
        </p:txBody>
      </p:sp>
      <p:pic>
        <p:nvPicPr>
          <p:cNvPr id="3" name="scene-07">
            <a:hlinkClick r:id="" action="ppaction://media"/>
            <a:extLst>
              <a:ext uri="{FF2B5EF4-FFF2-40B4-BE49-F238E27FC236}">
                <a16:creationId xmlns:a16="http://schemas.microsoft.com/office/drawing/2014/main" id="{F589C822-EE98-89E3-E66A-4D54958D18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2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560"/>
    </mc:Choice>
    <mc:Fallback>
      <p:transition spd="slow" advClick="0" advTm="14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1766A9-BB86-489F-AF32-C793798F9FC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ED5A53"/>
                </a:solidFill>
              </a:defRPr>
            </a:pPr>
            <a:r>
              <a:rPr sz="900" b="1">
                <a:solidFill>
                  <a:srgbClr val="ED5A53"/>
                </a:solidFill>
              </a:rPr>
              <a:t>FRESHNESS MATTERS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DBC382-8705-4675-8266-18267A441766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850" b="1">
                <a:solidFill>
                  <a:srgbClr val="102A2E"/>
                </a:solidFill>
              </a:defRPr>
            </a:pPr>
            <a:r>
              <a:rPr sz="2850" b="1">
                <a:solidFill>
                  <a:srgbClr val="102A2E"/>
                </a:solidFill>
              </a:rPr>
              <a:t>A launch notice is not proof that stock is still live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rcRect t="11431" b="11431"/>
          <a:stretch>
            <a:fillRect/>
          </a:stretch>
        </p:blipFill>
        <p:spPr>
          <a:xfrm>
            <a:off x="609600" y="1257300"/>
            <a:ext cx="5276850" cy="4400550"/>
          </a:xfrm>
          <a:prstGeom prst="roundRect">
            <a:avLst>
              <a:gd name="adj" fmla="val 2597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6AE426-8308-43B2-930D-3D27E2CB80CD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700" b="1">
                <a:solidFill>
                  <a:srgbClr val="ED5A53"/>
                </a:solidFill>
              </a:defRPr>
            </a:pPr>
            <a:r>
              <a:rPr sz="2700" b="1">
                <a:solidFill>
                  <a:srgbClr val="ED5A53"/>
                </a:solidFill>
              </a:rPr>
              <a:t>JULY 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B5408-8C9E-4896-8B1A-AC7B7FBBEFE4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Walmart’s launch notice confirmed limited Canadian inventory.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3B121-3510-4B8C-A257-A79DB62E6DBC}"/>
              </a:ext>
            </a:extLst>
          </p:cNvPr>
          <p:cNvSpPr>
            <a:spLocks noGrp="1"/>
          </p:cNvSpPr>
          <p:nvPr/>
        </p:nvSpPr>
        <p:spPr>
          <a:xfrm>
            <a:off x="6477000" y="32004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700" b="1">
                <a:solidFill>
                  <a:srgbClr val="ED5A53"/>
                </a:solidFill>
              </a:defRPr>
            </a:pPr>
            <a:r>
              <a:rPr sz="2700" b="1">
                <a:solidFill>
                  <a:srgbClr val="ED5A53"/>
                </a:solidFill>
              </a:rPr>
              <a:t>JULY 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A9098-D9B5-4614-94A4-58172E6718AF}"/>
              </a:ext>
            </a:extLst>
          </p:cNvPr>
          <p:cNvSpPr>
            <a:spLocks noGrp="1"/>
          </p:cNvSpPr>
          <p:nvPr/>
        </p:nvSpPr>
        <p:spPr>
          <a:xfrm>
            <a:off x="6477000" y="3657600"/>
            <a:ext cx="4476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The opportunity was reported sold out, so the record moved out of Early-signal radar.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783E9-36A5-43CA-8831-204929DC0319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F90615-7BF2-4AAA-BFDD-E2814303E3FC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751572-591E-4B2D-AC8C-98A1906CC3AD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Availability is always a dated observation—not a permanent guarantee.</a:t>
            </a:r>
          </a:p>
        </p:txBody>
      </p:sp>
      <p:pic>
        <p:nvPicPr>
          <p:cNvPr id="3" name="scene-08">
            <a:hlinkClick r:id="" action="ppaction://media"/>
            <a:extLst>
              <a:ext uri="{FF2B5EF4-FFF2-40B4-BE49-F238E27FC236}">
                <a16:creationId xmlns:a16="http://schemas.microsoft.com/office/drawing/2014/main" id="{9FF502E2-0F8D-B0C7-4553-E1EE610A1B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8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040"/>
    </mc:Choice>
    <mc:Fallback>
      <p:transition spd="slow" advClick="0" advTm="160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3E694CB-28FD-4298-B7EF-F80754EA02E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FFD74B"/>
                </a:solidFill>
              </a:defRPr>
            </a:pPr>
            <a:r>
              <a:rPr sz="975" b="1">
                <a:solidFill>
                  <a:srgbClr val="FFD74B"/>
                </a:solidFill>
              </a:rPr>
              <a:t>RESPONSIBLE BY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CF69A-7F78-4459-BEB9-CBF623EF2B1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Useful alerts without purchase automation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FEC0CF-C99A-4175-B6BC-128C503091E0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FFFDF8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4E27E-26DB-47EF-9005-0F31E04D4EB3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609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94BE86-EEA3-4776-9162-0C33E7CDAFDC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2800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PUBLIC SOURCES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94A27-59C0-4164-90E2-6FA4C756E517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2800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Every claim links to evidence.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A47321-4CBD-4826-9A35-262423C1176B}"/>
              </a:ext>
            </a:extLst>
          </p:cNvPr>
          <p:cNvSpPr>
            <a:spLocks noGrp="1"/>
          </p:cNvSpPr>
          <p:nvPr/>
        </p:nvSpPr>
        <p:spPr>
          <a:xfrm>
            <a:off x="4324350" y="19240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FFFDF8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C4043-4B93-433E-8175-E69F2E15AB2C}"/>
              </a:ext>
            </a:extLst>
          </p:cNvPr>
          <p:cNvSpPr>
            <a:spLocks noGrp="1"/>
          </p:cNvSpPr>
          <p:nvPr/>
        </p:nvSpPr>
        <p:spPr>
          <a:xfrm>
            <a:off x="4591050" y="2171700"/>
            <a:ext cx="609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89E720-7C84-4EB5-97D7-4F5FE1A6E5D4}"/>
              </a:ext>
            </a:extLst>
          </p:cNvPr>
          <p:cNvSpPr>
            <a:spLocks noGrp="1"/>
          </p:cNvSpPr>
          <p:nvPr/>
        </p:nvSpPr>
        <p:spPr>
          <a:xfrm>
            <a:off x="4591050" y="2800350"/>
            <a:ext cx="2800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NO QUEUE BYPASS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5B589-44E8-449F-9BD5-D6FBD792559B}"/>
              </a:ext>
            </a:extLst>
          </p:cNvPr>
          <p:cNvSpPr>
            <a:spLocks noGrp="1"/>
          </p:cNvSpPr>
          <p:nvPr/>
        </p:nvSpPr>
        <p:spPr>
          <a:xfrm>
            <a:off x="4591050" y="3448050"/>
            <a:ext cx="2800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No bots and no automated buying.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B02629-0C5B-4E09-9024-E8D84AF8AAD5}"/>
              </a:ext>
            </a:extLst>
          </p:cNvPr>
          <p:cNvSpPr>
            <a:spLocks noGrp="1"/>
          </p:cNvSpPr>
          <p:nvPr/>
        </p:nvSpPr>
        <p:spPr>
          <a:xfrm>
            <a:off x="8039100" y="1924050"/>
            <a:ext cx="3333750" cy="2476500"/>
          </a:xfrm>
          <a:prstGeom prst="roundRect">
            <a:avLst>
              <a:gd name="adj" fmla="val 4615"/>
            </a:avLst>
          </a:prstGeom>
          <a:solidFill>
            <a:srgbClr val="FFD74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8BCDC8-0EC0-4827-AB77-311E5851FBCC}"/>
              </a:ext>
            </a:extLst>
          </p:cNvPr>
          <p:cNvSpPr>
            <a:spLocks noGrp="1"/>
          </p:cNvSpPr>
          <p:nvPr/>
        </p:nvSpPr>
        <p:spPr>
          <a:xfrm>
            <a:off x="8305800" y="2171700"/>
            <a:ext cx="609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400" b="1">
                <a:solidFill>
                  <a:srgbClr val="ED5A53"/>
                </a:solidFill>
              </a:defRPr>
            </a:pPr>
            <a:r>
              <a:rPr sz="2400" b="1">
                <a:solidFill>
                  <a:srgbClr val="ED5A53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8E3F1-88B6-40B7-A3EF-3B665B158CDF}"/>
              </a:ext>
            </a:extLst>
          </p:cNvPr>
          <p:cNvSpPr>
            <a:spLocks noGrp="1"/>
          </p:cNvSpPr>
          <p:nvPr/>
        </p:nvSpPr>
        <p:spPr>
          <a:xfrm>
            <a:off x="8305800" y="2800350"/>
            <a:ext cx="2800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ZERO HOSTED API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F1B16D-AD4B-46E2-A778-93C33CC74B53}"/>
              </a:ext>
            </a:extLst>
          </p:cNvPr>
          <p:cNvSpPr>
            <a:spLocks noGrp="1"/>
          </p:cNvSpPr>
          <p:nvPr/>
        </p:nvSpPr>
        <p:spPr>
          <a:xfrm>
            <a:off x="8305800" y="3448050"/>
            <a:ext cx="28003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365157"/>
                </a:solidFill>
              </a:defRPr>
            </a:pPr>
            <a:r>
              <a:rPr sz="1500">
                <a:solidFill>
                  <a:srgbClr val="365157"/>
                </a:solidFill>
              </a:rPr>
              <a:t>GitHub Actions receives no OpenAI key.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FDC375-CA0C-4D70-B9EF-B936D669EBE4}"/>
              </a:ext>
            </a:extLst>
          </p:cNvPr>
          <p:cNvSpPr>
            <a:spLocks noGrp="1"/>
          </p:cNvSpPr>
          <p:nvPr/>
        </p:nvSpPr>
        <p:spPr>
          <a:xfrm>
            <a:off x="2190750" y="49339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Local GPT remains optional and cached to avoid repeated calls.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A1CBF-253D-4F40-AFC3-6668F34C2A75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10EC1D-C9FE-4838-A85A-22892AECE916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02A2E"/>
                </a:solidFill>
              </a:defRPr>
            </a:pPr>
            <a:r>
              <a:rPr sz="1650" b="1">
                <a:solidFill>
                  <a:srgbClr val="102A2E"/>
                </a:solidFill>
              </a:rPr>
              <a:t>No API key, secret value, or personal browser content appears in this demo.</a:t>
            </a:r>
          </a:p>
        </p:txBody>
      </p:sp>
      <p:pic>
        <p:nvPicPr>
          <p:cNvPr id="19" name="scene-09">
            <a:hlinkClick r:id="" action="ppaction://media"/>
            <a:extLst>
              <a:ext uri="{FF2B5EF4-FFF2-40B4-BE49-F238E27FC236}">
                <a16:creationId xmlns:a16="http://schemas.microsoft.com/office/drawing/2014/main" id="{FACE273A-2AAF-01BE-AA5E-ABE130D463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08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8900"/>
    </mc:Choice>
    <mc:Fallback>
      <p:transition spd="slow" advClick="0" advTm="189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5362B4D-03C5-4C6C-B855-09A107DDF0DB}"/>
              </a:ext>
            </a:extLst>
          </p:cNvPr>
          <p:cNvSpPr>
            <a:spLocks noGrp="1"/>
          </p:cNvSpPr>
          <p:nvPr/>
        </p:nvSpPr>
        <p:spPr>
          <a:xfrm>
            <a:off x="5391150" y="685800"/>
            <a:ext cx="1409700" cy="1409700"/>
          </a:xfrm>
          <a:prstGeom prst="ellipse">
            <a:avLst/>
          </a:prstGeom>
          <a:solidFill>
            <a:srgbClr val="ED5A53"/>
          </a:solidFill>
          <a:ln w="95250">
            <a:solidFill>
              <a:srgbClr val="102A2E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02BC7-DB83-4835-A83B-2812F7BB016C}"/>
              </a:ext>
            </a:extLst>
          </p:cNvPr>
          <p:cNvSpPr>
            <a:spLocks noGrp="1"/>
          </p:cNvSpPr>
          <p:nvPr/>
        </p:nvSpPr>
        <p:spPr>
          <a:xfrm>
            <a:off x="5448300" y="1304925"/>
            <a:ext cx="1295400" cy="1714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3F7FF8-32FE-47BE-A162-BCC625EC5B2B}"/>
              </a:ext>
            </a:extLst>
          </p:cNvPr>
          <p:cNvSpPr>
            <a:spLocks noGrp="1"/>
          </p:cNvSpPr>
          <p:nvPr/>
        </p:nvSpPr>
        <p:spPr>
          <a:xfrm>
            <a:off x="5819775" y="1066800"/>
            <a:ext cx="552450" cy="552450"/>
          </a:xfrm>
          <a:prstGeom prst="ellipse">
            <a:avLst/>
          </a:prstGeom>
          <a:solidFill>
            <a:srgbClr val="FFFDF8"/>
          </a:solidFill>
          <a:ln w="95250">
            <a:solidFill>
              <a:srgbClr val="102A2E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33659-55FE-4385-8C4A-BE706C8326A4}"/>
              </a:ext>
            </a:extLst>
          </p:cNvPr>
          <p:cNvSpPr>
            <a:spLocks noGrp="1"/>
          </p:cNvSpPr>
          <p:nvPr/>
        </p:nvSpPr>
        <p:spPr>
          <a:xfrm>
            <a:off x="2286000" y="2343150"/>
            <a:ext cx="7620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350" b="1">
                <a:solidFill>
                  <a:srgbClr val="102A2E"/>
                </a:solidFill>
              </a:defRPr>
            </a:pPr>
            <a:r>
              <a:rPr sz="4350" b="1">
                <a:solidFill>
                  <a:srgbClr val="102A2E"/>
                </a:solidFill>
              </a:rPr>
              <a:t>PokéStock Canada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5700C-91A5-4BDF-9A40-8C2CF7FBC8E0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ED5A53"/>
                </a:solidFill>
              </a:defRPr>
            </a:pPr>
            <a:r>
              <a:rPr sz="2100" b="1">
                <a:solidFill>
                  <a:srgbClr val="ED5A53"/>
                </a:solidFill>
              </a:rPr>
              <a:t>Earlier signals. Clear evidence. A fairer chance to collect.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909FED-2230-4166-8433-576461874413}"/>
              </a:ext>
            </a:extLst>
          </p:cNvPr>
          <p:cNvSpPr>
            <a:spLocks noGrp="1"/>
          </p:cNvSpPr>
          <p:nvPr/>
        </p:nvSpPr>
        <p:spPr>
          <a:xfrm>
            <a:off x="2381250" y="4095750"/>
            <a:ext cx="7429500" cy="704850"/>
          </a:xfrm>
          <a:prstGeom prst="roundRect">
            <a:avLst>
              <a:gd name="adj" fmla="val 16216"/>
            </a:avLst>
          </a:prstGeom>
          <a:solidFill>
            <a:srgbClr val="FFD74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50A19-8EDF-41D9-9F4A-0020747109D7}"/>
              </a:ext>
            </a:extLst>
          </p:cNvPr>
          <p:cNvSpPr>
            <a:spLocks noGrp="1"/>
          </p:cNvSpPr>
          <p:nvPr/>
        </p:nvSpPr>
        <p:spPr>
          <a:xfrm>
            <a:off x="2667000" y="421005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hansun103.github.io/pokestock-canada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F15F9-F8E1-43CC-802F-C1BE5D9D8B3B}"/>
              </a:ext>
            </a:extLst>
          </p:cNvPr>
          <p:cNvSpPr>
            <a:spLocks noGrp="1"/>
          </p:cNvSpPr>
          <p:nvPr/>
        </p:nvSpPr>
        <p:spPr>
          <a:xfrm>
            <a:off x="2095500" y="521970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>
                <a:solidFill>
                  <a:srgbClr val="365157"/>
                </a:solidFill>
              </a:defRPr>
            </a:pPr>
            <a:r>
              <a:rPr sz="1425">
                <a:solidFill>
                  <a:srgbClr val="365157"/>
                </a:solidFill>
              </a:rPr>
              <a:t>Source-linked release intelligence for Canadian Pokémon TCG collectors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770D7-FEEC-48DD-8523-B11BF1C92C2F}"/>
              </a:ext>
            </a:extLst>
          </p:cNvPr>
          <p:cNvSpPr>
            <a:spLocks noGrp="1"/>
          </p:cNvSpPr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102A2E"/>
          </a:solidFill>
          <a:ln w="0">
            <a:solidFill>
              <a:srgbClr val="102A2E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436D4A-3DE8-40B3-9AB8-333DB7ED6405}"/>
              </a:ext>
            </a:extLst>
          </p:cNvPr>
          <p:cNvSpPr>
            <a:spLocks noGrp="1"/>
          </p:cNvSpPr>
          <p:nvPr/>
        </p:nvSpPr>
        <p:spPr>
          <a:xfrm>
            <a:off x="495300" y="6229350"/>
            <a:ext cx="323850" cy="323850"/>
          </a:xfrm>
          <a:prstGeom prst="ellipse">
            <a:avLst/>
          </a:prstGeom>
          <a:solidFill>
            <a:srgbClr val="FFD74B"/>
          </a:solidFill>
          <a:ln w="0">
            <a:solidFill>
              <a:srgbClr val="FFD74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572D1E-8940-4329-9CAF-256DDD534906}"/>
              </a:ext>
            </a:extLst>
          </p:cNvPr>
          <p:cNvSpPr>
            <a:spLocks noGrp="1"/>
          </p:cNvSpPr>
          <p:nvPr/>
        </p:nvSpPr>
        <p:spPr>
          <a:xfrm>
            <a:off x="1009650" y="6134100"/>
            <a:ext cx="10525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Prepare, watch, and verify before buying.</a:t>
            </a:r>
          </a:p>
        </p:txBody>
      </p:sp>
      <p:pic>
        <p:nvPicPr>
          <p:cNvPr id="13" name="scene-10">
            <a:hlinkClick r:id="" action="ppaction://media"/>
            <a:extLst>
              <a:ext uri="{FF2B5EF4-FFF2-40B4-BE49-F238E27FC236}">
                <a16:creationId xmlns:a16="http://schemas.microsoft.com/office/drawing/2014/main" id="{E070D29B-8094-3743-85E3-E24F153CA7A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00" y="254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3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670"/>
    </mc:Choice>
    <mc:Fallback>
      <p:transition spd="slow" advClick="0" advTm="146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DocSecurity>0</DocSecurity>
  <PresentationFormat>Widescreen</PresentationFormat>
  <Paragraphs>76</Paragraphs>
  <Slides>10</Slides>
  <Notes>10</Notes>
  <HiddenSlides>0</HiddenSlides>
  <MMClips>10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 Sun</cp:lastModifiedBy>
  <cp:revision>1</cp:revision>
  <dcterms:created xsi:type="dcterms:W3CDTF">2026-07-18T18:54:50Z</dcterms:created>
  <dcterms:modified xsi:type="dcterms:W3CDTF">2026-07-18T19:20:45Z</dcterms:modified>
</cp:coreProperties>
</file>