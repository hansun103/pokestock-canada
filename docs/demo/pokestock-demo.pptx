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369f182347416c" /><Relationship Type="http://schemas.openxmlformats.org/officeDocument/2006/relationships/extended-properties" Target="/docProps/app.xml" Id="Rc852e9124e9940dc" /><Relationship Type="http://schemas.openxmlformats.org/officeDocument/2006/relationships/officeDocument" Target="/ppt/presentation.xml" Id="R8ecf8189964b4c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5a8b8b08d649d2"/>
  </p:sldMasterIdLst>
  <p:notesMasterIdLst>
    <p:notesMasterId xmlns:r="http://schemas.openxmlformats.org/officeDocument/2006/relationships" r:id="R80149f5528e6481f"/>
  </p:notesMasterIdLst>
  <p:sldIdLst>
    <p:sldId xmlns:r="http://schemas.openxmlformats.org/officeDocument/2006/relationships" id="256" r:id="Rb2b29670402d484e"/>
    <p:sldId xmlns:r="http://schemas.openxmlformats.org/officeDocument/2006/relationships" id="257" r:id="Rae071ecffec24da4"/>
    <p:sldId xmlns:r="http://schemas.openxmlformats.org/officeDocument/2006/relationships" id="258" r:id="Re55af276ff354d0a"/>
    <p:sldId xmlns:r="http://schemas.openxmlformats.org/officeDocument/2006/relationships" id="259" r:id="R31b67138a1d040f9"/>
    <p:sldId xmlns:r="http://schemas.openxmlformats.org/officeDocument/2006/relationships" id="260" r:id="R150098dd881d447b"/>
    <p:sldId xmlns:r="http://schemas.openxmlformats.org/officeDocument/2006/relationships" id="261" r:id="R0ae0efb510874d7b"/>
    <p:sldId xmlns:r="http://schemas.openxmlformats.org/officeDocument/2006/relationships" id="262" r:id="R848b21c68fee48c9"/>
    <p:sldId xmlns:r="http://schemas.openxmlformats.org/officeDocument/2006/relationships" id="263" r:id="Ra222a3cd80a44e6c"/>
    <p:sldId xmlns:r="http://schemas.openxmlformats.org/officeDocument/2006/relationships" id="264" r:id="Rcc2b7e84738746d4"/>
    <p:sldId xmlns:r="http://schemas.openxmlformats.org/officeDocument/2006/relationships" id="265" r:id="R4d4744834c5b4b4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a276e5b6804e8a" /><Relationship Type="http://schemas.openxmlformats.org/officeDocument/2006/relationships/slideMaster" Target="/ppt/slideMasters/slideMaster1.xml" Id="Rb55a8b8b08d649d2" /><Relationship Type="http://schemas.openxmlformats.org/officeDocument/2006/relationships/notesMaster" Target="/ppt/notesMasters/notesMaster1.xml" Id="R80149f5528e6481f" /><Relationship Type="http://schemas.openxmlformats.org/officeDocument/2006/relationships/presProps" Target="/ppt/presProps.xml" Id="Rc60484d08e6a4d8e" /><Relationship Type="http://schemas.openxmlformats.org/officeDocument/2006/relationships/tableStyles" Target="/ppt/tableStyles.xml" Id="R6d309807fac44ded" /><Relationship Type="http://schemas.openxmlformats.org/officeDocument/2006/relationships/slide" Target="/ppt/slides/slide1.xml" Id="Rb2b29670402d484e" /><Relationship Type="http://schemas.openxmlformats.org/officeDocument/2006/relationships/slide" Target="/ppt/slides/slide2.xml" Id="Rae071ecffec24da4" /><Relationship Type="http://schemas.openxmlformats.org/officeDocument/2006/relationships/slide" Target="/ppt/slides/slide3.xml" Id="Re55af276ff354d0a" /><Relationship Type="http://schemas.openxmlformats.org/officeDocument/2006/relationships/slide" Target="/ppt/slides/slide4.xml" Id="R31b67138a1d040f9" /><Relationship Type="http://schemas.openxmlformats.org/officeDocument/2006/relationships/slide" Target="/ppt/slides/slide5.xml" Id="R150098dd881d447b" /><Relationship Type="http://schemas.openxmlformats.org/officeDocument/2006/relationships/slide" Target="/ppt/slides/slide6.xml" Id="R0ae0efb510874d7b" /><Relationship Type="http://schemas.openxmlformats.org/officeDocument/2006/relationships/slide" Target="/ppt/slides/slide7.xml" Id="R848b21c68fee48c9" /><Relationship Type="http://schemas.openxmlformats.org/officeDocument/2006/relationships/slide" Target="/ppt/slides/slide8.xml" Id="Ra222a3cd80a44e6c" /><Relationship Type="http://schemas.openxmlformats.org/officeDocument/2006/relationships/slide" Target="/ppt/slides/slide9.xml" Id="Rcc2b7e84738746d4" /><Relationship Type="http://schemas.openxmlformats.org/officeDocument/2006/relationships/slide" Target="/ppt/slides/slide10.xml" Id="R4d4744834c5b4b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876b41411f4e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c75900baa14c4e" /><Relationship Type="http://schemas.openxmlformats.org/officeDocument/2006/relationships/notesMaster" Target="/ppt/notesMasters/notesMaster1.xml" Id="R75911e69b448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edf43c8c6f4d27" /><Relationship Type="http://schemas.openxmlformats.org/officeDocument/2006/relationships/notesMaster" Target="/ppt/notesMasters/notesMaster1.xml" Id="Rd4c37a4526934e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3c936f0ab64e4d" /><Relationship Type="http://schemas.openxmlformats.org/officeDocument/2006/relationships/notesMaster" Target="/ppt/notesMasters/notesMaster1.xml" Id="R6228c62b7eda4a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be3187e3d54b5b" /><Relationship Type="http://schemas.openxmlformats.org/officeDocument/2006/relationships/notesMaster" Target="/ppt/notesMasters/notesMaster1.xml" Id="R77f2463dee9441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7d77521e824f3b" /><Relationship Type="http://schemas.openxmlformats.org/officeDocument/2006/relationships/notesMaster" Target="/ppt/notesMasters/notesMaster1.xml" Id="Rb061453d32dc49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43911e431b4b5e" /><Relationship Type="http://schemas.openxmlformats.org/officeDocument/2006/relationships/notesMaster" Target="/ppt/notesMasters/notesMaster1.xml" Id="R3621c496c81d4c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1094a71f134706" /><Relationship Type="http://schemas.openxmlformats.org/officeDocument/2006/relationships/notesMaster" Target="/ppt/notesMasters/notesMaster1.xml" Id="Re3ce6747f6b344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027774bcf34fc2" /><Relationship Type="http://schemas.openxmlformats.org/officeDocument/2006/relationships/notesMaster" Target="/ppt/notesMasters/notesMaster1.xml" Id="Ra26e2b7d5c3041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441c08adff4345" /><Relationship Type="http://schemas.openxmlformats.org/officeDocument/2006/relationships/notesMaster" Target="/ppt/notesMasters/notesMaster1.xml" Id="R64dace3f9e3943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8935aca17af4295" /><Relationship Type="http://schemas.openxmlformats.org/officeDocument/2006/relationships/notesMaster" Target="/ppt/notesMasters/notesMaster1.xml" Id="R4838a4b2d0b341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9dc6f64f904b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9767c4601240c0" /><Relationship Type="http://schemas.openxmlformats.org/officeDocument/2006/relationships/slideLayout" Target="/ppt/slideLayouts/slideLayout1.xml" Id="Rcabc122208854c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bc122208854c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3b02f410f4629" /><Relationship Type="http://schemas.openxmlformats.org/officeDocument/2006/relationships/image" Target="/ppt/media/image.png" Id="Rc1a9e79b13d04ddb" /><Relationship Type="http://schemas.openxmlformats.org/officeDocument/2006/relationships/notesSlide" Target="/ppt/notesSlides/notesSlide1.xml" Id="R179b99e2bbd246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b4c8e74ce48e5" /><Relationship Type="http://schemas.openxmlformats.org/officeDocument/2006/relationships/image" Target="/ppt/media/image2.png" Id="R5e07f8c1a62a4a05" /><Relationship Type="http://schemas.openxmlformats.org/officeDocument/2006/relationships/notesSlide" Target="/ppt/notesSlides/notesSlide2.xml" Id="R84127f37c2b246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3f66a87e24b8f" /><Relationship Type="http://schemas.openxmlformats.org/officeDocument/2006/relationships/notesSlide" Target="/ppt/notesSlides/notesSlide3.xml" Id="R50e64b960e1849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433a208ea4693" /><Relationship Type="http://schemas.openxmlformats.org/officeDocument/2006/relationships/image" Target="/ppt/media/image3.png" Id="Rea31dae1aff24973" /><Relationship Type="http://schemas.openxmlformats.org/officeDocument/2006/relationships/notesSlide" Target="/ppt/notesSlides/notesSlide4.xml" Id="Re83fdd4ea1a742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f32142c5c4987" /><Relationship Type="http://schemas.openxmlformats.org/officeDocument/2006/relationships/image" Target="/ppt/media/image4.png" Id="Rcff84a05d39a4dfd" /><Relationship Type="http://schemas.openxmlformats.org/officeDocument/2006/relationships/notesSlide" Target="/ppt/notesSlides/notesSlide5.xml" Id="R2c14baaa6abb49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0ee2bea7a430e" /><Relationship Type="http://schemas.openxmlformats.org/officeDocument/2006/relationships/notesSlide" Target="/ppt/notesSlides/notesSlide6.xml" Id="R4746d9afb6b843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46170d42643dd" /><Relationship Type="http://schemas.openxmlformats.org/officeDocument/2006/relationships/notesSlide" Target="/ppt/notesSlides/notesSlide7.xml" Id="R4964ec2bd01540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b89f73ac9482b" /><Relationship Type="http://schemas.openxmlformats.org/officeDocument/2006/relationships/image" Target="/ppt/media/image5.png" Id="R766a0c17b3cc45e6" /><Relationship Type="http://schemas.openxmlformats.org/officeDocument/2006/relationships/notesSlide" Target="/ppt/notesSlides/notesSlide8.xml" Id="R346114f0a1174f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ddf809a414334" /><Relationship Type="http://schemas.openxmlformats.org/officeDocument/2006/relationships/notesSlide" Target="/ppt/notesSlides/notesSlide9.xml" Id="Rd6c7a39c3ee84e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e52ba4c4b484f" /><Relationship Type="http://schemas.openxmlformats.org/officeDocument/2006/relationships/notesSlide" Target="/ppt/notesSlides/notesSlide10.xml" Id="R971d49cee35540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9e79b13d04dd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667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20B36C-2198-4EA5-BF06-0652E33E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7FE94-E40F-4F59-A9A5-467FB56F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D74B"/>
                </a:solidFill>
              </a:defRPr>
            </a:pPr>
            <a:r>
              <a:rPr sz="975" b="1">
                <a:solidFill>
                  <a:srgbClr val="FFD74B"/>
                </a:solidFill>
              </a:rPr>
              <a:t>CANADIAN COLLECTORS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6009F-30E4-40B3-84AA-03B4F77C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Catch fair-price Pokémon TCG drops before sellout.</a:t>
            </a:r>
          </a:p>
        </p:txBody>
      </p:sp>
    </p:spTree>
    <p:extLst>
      <p:ext uri="{BB962C8B-B14F-4D97-AF65-F5344CB8AC3E}">
        <p14:creationId xmlns:p14="http://schemas.microsoft.com/office/powerpoint/2010/main" val="17882786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7F6300-457D-4A2D-B0A8-98412DEC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THE COLLECTOR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634EA-8CE2-46FC-98E3-39025D20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The useful moment happens before stock goes live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68A75-BCBB-4EC8-AF66-11ECDD70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D5A53"/>
                </a:solidFill>
              </a:defRPr>
            </a:pPr>
            <a:r>
              <a:rPr sz="1350" b="1">
                <a:solidFill>
                  <a:srgbClr val="ED5A53"/>
                </a:solidFill>
              </a:rPr>
              <a:t>Official release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11E46-F8BC-49F8-82C0-96C32B53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65157"/>
                </a:solidFill>
              </a:defRPr>
            </a:pPr>
            <a:r>
              <a:rPr sz="1500">
                <a:solidFill>
                  <a:srgbClr val="365157"/>
                </a:solidFill>
              </a:rPr>
              <a:t>When Pokémon says the product launches.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5EA9E-1300-4868-9879-C19B9374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D5A53"/>
                </a:solidFill>
              </a:defRPr>
            </a:pPr>
            <a:r>
              <a:rPr sz="1350" b="1">
                <a:solidFill>
                  <a:srgbClr val="ED5A53"/>
                </a:solidFill>
              </a:rPr>
              <a:t>First Canadian listing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FB486-C4FE-415F-814D-B4E5338E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65157"/>
                </a:solidFill>
              </a:defRPr>
            </a:pPr>
            <a:r>
              <a:rPr sz="1500">
                <a:solidFill>
                  <a:srgbClr val="365157"/>
                </a:solidFill>
              </a:rPr>
              <a:t>When collectors can actually preorder or buy.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C2A8F-A6E9-46B3-AAB3-9993FF80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ED5A53"/>
                </a:solidFill>
              </a:defRPr>
            </a:pPr>
            <a:r>
              <a:rPr sz="1350" b="1">
                <a:solidFill>
                  <a:srgbClr val="ED5A53"/>
                </a:solidFill>
              </a:rPr>
              <a:t>Current availability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815A0-A00F-45C8-A6F9-2C191040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65157"/>
                </a:solidFill>
              </a:defRPr>
            </a:pPr>
            <a:r>
              <a:rPr sz="1500">
                <a:solidFill>
                  <a:srgbClr val="365157"/>
                </a:solidFill>
              </a:rPr>
              <a:t>A dated observation—not a permanent stock guarantee.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7f8c1a62a4a05"/>
          <a:srcRect xmlns:a="http://schemas.openxmlformats.org/drawingml/2006/main" l="0" t="42511" r="0" b="42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1257300"/>
            <a:ext cx="7200900" cy="4381500"/>
          </a:xfrm>
          <a:prstGeom xmlns:a="http://schemas.openxmlformats.org/drawingml/2006/main" prst="roundRect">
            <a:avLst>
              <a:gd name="adj" fmla="val 2609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D57B9-2E51-4F45-BD57-18616004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2A15F3-A04A-413B-BB60-EA1AED78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62A930-6469-439D-B868-A88B451F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PokéStock separates release dates, buying dates, and current stock.</a:t>
            </a:r>
          </a:p>
        </p:txBody>
      </p:sp>
    </p:spTree>
    <p:extLst>
      <p:ext uri="{BB962C8B-B14F-4D97-AF65-F5344CB8AC3E}">
        <p14:creationId xmlns:p14="http://schemas.microsoft.com/office/powerpoint/2010/main" val="690789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D1178-60F3-49D3-9A14-259D49DF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SOURCE TO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C59A7-367D-4353-B518-70A3C1AE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Public signals become validated collector actions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86DEA2-C6A8-44D4-940E-8A7A362D7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0032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5A53"/>
          </a:solidFill>
          <a:ln xmlns:a="http://schemas.openxmlformats.org/drawingml/2006/main" w="0">
            <a:solidFill>
              <a:srgbClr val="ED5A5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677FF-6A85-4BFD-A82E-235C97EC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5A53"/>
          </a:solidFill>
          <a:ln xmlns:a="http://schemas.openxmlformats.org/drawingml/2006/main" w="0">
            <a:solidFill>
              <a:srgbClr val="ED5A5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B8023-D10C-4303-B585-54E5D0C5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032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5A53"/>
          </a:solidFill>
          <a:ln xmlns:a="http://schemas.openxmlformats.org/drawingml/2006/main" w="0">
            <a:solidFill>
              <a:srgbClr val="ED5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A19AE-15E8-4B4F-AE83-FA42F890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600325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5A53"/>
          </a:solidFill>
          <a:ln xmlns:a="http://schemas.openxmlformats.org/drawingml/2006/main" w="0">
            <a:solidFill>
              <a:srgbClr val="ED5A5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2AEE4-F62B-42F4-A649-5863491D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1809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C0F1D-7CEE-4DE6-AB7E-D82CEBF7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OFFICIAL NEWS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06FD9-7744-4F84-8E41-D5B11D20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365157"/>
                </a:solidFill>
              </a:defRPr>
            </a:pPr>
            <a:r>
              <a:rPr sz="1275">
                <a:solidFill>
                  <a:srgbClr val="365157"/>
                </a:solidFill>
              </a:rPr>
              <a:t>Dated product and release signals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A6AEE-6AC6-423C-9F1C-34A5B231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924050"/>
            <a:ext cx="1809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E2446-AF72-41D3-A236-02AC37EA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1526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NORMALIZE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DD1CF-B8EB-4844-A26E-531FBD15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146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365157"/>
                </a:solidFill>
              </a:defRPr>
            </a:pPr>
            <a:r>
              <a:rPr sz="1275">
                <a:solidFill>
                  <a:srgbClr val="365157"/>
                </a:solidFill>
              </a:rPr>
              <a:t>Products, regions, events, and dates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F9FA85-4368-4F43-BBE0-8EAD44E6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24050"/>
            <a:ext cx="1809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D74B"/>
          </a:solidFill>
          <a:ln xmlns:a="http://schemas.openxmlformats.org/drawingml/2006/main" w="9525">
            <a:solidFill>
              <a:srgbClr val="D8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8285B-B3D6-464A-8CCD-6E1237FF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526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REASON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F7E38C-32D2-41F2-AA1F-649869ED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146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365157"/>
                </a:solidFill>
              </a:defRPr>
            </a:pPr>
            <a:r>
              <a:rPr sz="1275">
                <a:solidFill>
                  <a:srgbClr val="365157"/>
                </a:solidFill>
              </a:rPr>
              <a:t>Optional GPT outlook from supplied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38C53-6F3C-47B6-B51A-FF8F4338F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24050"/>
            <a:ext cx="1809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D015F9-5084-4B75-A5FD-DD52DA2B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526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558B1-D6F3-4F62-BD8E-F7A3CA18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365157"/>
                </a:solidFill>
              </a:defRPr>
            </a:pPr>
            <a:r>
              <a:rPr sz="1275">
                <a:solidFill>
                  <a:srgbClr val="365157"/>
                </a:solidFill>
              </a:rPr>
              <a:t>Deterministic state and regional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78E366-E072-4544-935A-5D4E3D7B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924050"/>
            <a:ext cx="1809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9424E8-B9D9-4E3B-B2A1-34077476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15265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5C9D22-E39A-454A-BEAB-88371B00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5146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365157"/>
                </a:solidFill>
              </a:defRPr>
            </a:pPr>
            <a:r>
              <a:rPr sz="1275">
                <a:solidFill>
                  <a:srgbClr val="365157"/>
                </a:solidFill>
              </a:rPr>
              <a:t>Website data and change-only alerts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D843FE-6ECF-45AA-A49A-CA0D4AAB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67200"/>
            <a:ext cx="647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2A2E"/>
                </a:solidFill>
              </a:defRPr>
            </a:pPr>
            <a:r>
              <a:rPr sz="2025" b="1">
                <a:solidFill>
                  <a:srgbClr val="102A2E"/>
                </a:solidFill>
              </a:rPr>
              <a:t>One evidence chain powers both the dashboard and alerts.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D408E8-7CD0-4E4F-A4B8-800F0DAE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C992D1-92D9-461D-9674-C603A769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98CD82-F65E-4773-B7D6-7FFD703C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Every alert remains linked to the dated signal that caused it.</a:t>
            </a:r>
          </a:p>
        </p:txBody>
      </p:sp>
    </p:spTree>
    <p:extLst>
      <p:ext uri="{BB962C8B-B14F-4D97-AF65-F5344CB8AC3E}">
        <p14:creationId xmlns:p14="http://schemas.microsoft.com/office/powerpoint/2010/main" val="2496885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206E0-8F79-4E66-A7B5-F088035E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RELEASE RADAR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D5350-5067-44F6-8C57-F25871DC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Show collectors what to do next—not just what already sold out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1dae1aff24973"/>
          <a:srcRect xmlns:a="http://schemas.openxmlformats.org/drawingml/2006/main" l="0" t="22569" r="0" b="225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200150"/>
            <a:ext cx="10972800" cy="4514850"/>
          </a:xfrm>
          <a:prstGeom xmlns:a="http://schemas.openxmlformats.org/drawingml/2006/main" prst="roundRect">
            <a:avLst>
              <a:gd name="adj" fmla="val 2532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3331A-95F3-45A4-8BE1-1B43B9D8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E9473-613C-425C-9872-99EF0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F81DFA-988E-4307-BADC-1B51335B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Filter by watch stage and sort by the closest estimated action date.</a:t>
            </a:r>
          </a:p>
        </p:txBody>
      </p:sp>
    </p:spTree>
    <p:extLst>
      <p:ext uri="{BB962C8B-B14F-4D97-AF65-F5344CB8AC3E}">
        <p14:creationId xmlns:p14="http://schemas.microsoft.com/office/powerpoint/2010/main" val="1485729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17C4B-FA03-42CF-A109-5FCC55B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GPT-5.6 REASONING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4E6B1-6060-40B6-8242-146286F8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The model explains the window; it does not invent the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A844E-559E-45E9-988B-9A150CA0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3810000" cy="409575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8CBEF9-AE34-4244-AC0B-73A91CB7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D5A53"/>
                </a:solidFill>
              </a:defRPr>
            </a:pPr>
            <a:r>
              <a:rPr sz="2100" b="1">
                <a:solidFill>
                  <a:srgbClr val="ED5A53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A3B80-8036-45DA-A86C-3941011A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811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2E"/>
                </a:solidFill>
              </a:defRPr>
            </a:pPr>
            <a:r>
              <a:rPr sz="1725" b="1">
                <a:solidFill>
                  <a:srgbClr val="102A2E"/>
                </a:solidFill>
              </a:rPr>
              <a:t>Connectors discover links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EEB66B-A029-4F02-BA2A-4F373D23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D5A53"/>
                </a:solidFill>
              </a:defRPr>
            </a:pPr>
            <a:r>
              <a:rPr sz="2100" b="1">
                <a:solidFill>
                  <a:srgbClr val="ED5A53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81CBA-89C5-4E97-AC3D-E3B9BA33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90800"/>
            <a:ext cx="266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2E"/>
                </a:solidFill>
              </a:defRPr>
            </a:pPr>
            <a:r>
              <a:rPr sz="1725" b="1">
                <a:solidFill>
                  <a:srgbClr val="102A2E"/>
                </a:solidFill>
              </a:rPr>
              <a:t>GPT compares dated signals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1AE41-A0C5-49F1-9EAC-A7FEF0C2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D5A53"/>
                </a:solidFill>
              </a:defRPr>
            </a:pPr>
            <a:r>
              <a:rPr sz="2100" b="1">
                <a:solidFill>
                  <a:srgbClr val="ED5A53"/>
                </a:solidFill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38A31-E45B-4859-8092-1BD4B66F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2E"/>
                </a:solidFill>
              </a:defRPr>
            </a:pPr>
            <a:r>
              <a:rPr sz="1725" b="1">
                <a:solidFill>
                  <a:srgbClr val="102A2E"/>
                </a:solidFill>
              </a:rPr>
              <a:t>The UI labels the result as an estimate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584B7-88A8-45C4-8B8C-E838D267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365157"/>
                </a:solidFill>
              </a:defRPr>
            </a:pPr>
            <a:r>
              <a:rPr sz="1350">
                <a:solidFill>
                  <a:srgbClr val="365157"/>
                </a:solidFill>
              </a:rPr>
              <a:t>Official dates always remain separate.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f84a05d39a4dfd"/>
          <a:srcRect xmlns:a="http://schemas.openxmlformats.org/drawingml/2006/main" l="0" t="1955" r="0" b="1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1314450"/>
            <a:ext cx="68199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DE9791-F381-49B9-9734-7533872D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0A1BAA-E267-4F63-836D-D0A1C65A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89F19-8F0A-4BD6-8C47-4C768E3F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GPT reasons over supplied evidence; deterministic code validates the result.</a:t>
            </a:r>
          </a:p>
        </p:txBody>
      </p:sp>
    </p:spTree>
    <p:extLst>
      <p:ext uri="{BB962C8B-B14F-4D97-AF65-F5344CB8AC3E}">
        <p14:creationId xmlns:p14="http://schemas.microsoft.com/office/powerpoint/2010/main" val="11397865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993442-47DE-4F67-AF90-212CC655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DETERMINISTIC SAFEGUARDS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D88B9-7E07-45F6-B3EF-7029BC39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Canadian evidence controls Canadian availability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2782B-D1C5-4FFD-A1EB-C7D142F0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47950"/>
            <a:ext cx="6286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DED8"/>
          </a:solidFill>
          <a:ln xmlns:a="http://schemas.openxmlformats.org/drawingml/2006/main" w="0">
            <a:solidFill>
              <a:srgbClr val="D8D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0D289-F921-4384-B976-3542EAE0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6286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DED8"/>
          </a:solidFill>
          <a:ln xmlns:a="http://schemas.openxmlformats.org/drawingml/2006/main" w="0">
            <a:solidFill>
              <a:srgbClr val="D8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283021-F78E-45CC-A414-EC432863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47950"/>
            <a:ext cx="6286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DED8"/>
          </a:solidFill>
          <a:ln xmlns:a="http://schemas.openxmlformats.org/drawingml/2006/main" w="0">
            <a:solidFill>
              <a:srgbClr val="D8D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8685C-9761-4BE0-9523-4466F01F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6286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DED8"/>
          </a:solidFill>
          <a:ln xmlns:a="http://schemas.openxmlformats.org/drawingml/2006/main" w="0">
            <a:solidFill>
              <a:srgbClr val="D8D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49D2F-49C4-47B6-AA95-44A48F7C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B9DD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021AC5-338F-401D-8B95-216145C7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2E"/>
                </a:solidFill>
              </a:defRPr>
            </a:pPr>
            <a:r>
              <a:rPr sz="1425" b="1">
                <a:solidFill>
                  <a:srgbClr val="102A2E"/>
                </a:solidFill>
              </a:rPr>
              <a:t>PRODUCT</a:t>
            </a:r>
          </a:p>
          <a:p xmlns:a="http://schemas.openxmlformats.org/drawingml/2006/main">
            <a:pPr algn="ctr">
              <a:defRPr sz="1425" b="1">
                <a:solidFill>
                  <a:srgbClr val="102A2E"/>
                </a:solidFill>
              </a:defRPr>
            </a:pPr>
            <a:r>
              <a:rPr sz="1425" b="1">
                <a:solidFill>
                  <a:srgbClr val="102A2E"/>
                </a:solidFill>
              </a:rPr>
              <a:t>CONFIRMED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C9AD9-B0C8-4D63-934C-8601D275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526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D7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FF975D-7DB4-4128-BF4E-5BE2DBC4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8125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2E"/>
                </a:solidFill>
              </a:defRPr>
            </a:pPr>
            <a:r>
              <a:rPr sz="1425" b="1">
                <a:solidFill>
                  <a:srgbClr val="102A2E"/>
                </a:solidFill>
              </a:rPr>
              <a:t>PREPARE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57F94-5FE6-46D0-853F-EB4522BB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526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8F2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286C36-8009-4611-B9D5-2A5FE54B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2E"/>
                </a:solidFill>
              </a:defRPr>
            </a:pPr>
            <a:r>
              <a:rPr sz="1425" b="1">
                <a:solidFill>
                  <a:srgbClr val="102A2E"/>
                </a:solidFill>
              </a:rPr>
              <a:t>LIVE NOW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6CCB9D-F474-4430-953C-6B152031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526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EE7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BFF07-452C-4A6A-8AF0-DD16F30D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38125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2E"/>
                </a:solidFill>
              </a:defRPr>
            </a:pPr>
            <a:r>
              <a:rPr sz="1425" b="1">
                <a:solidFill>
                  <a:srgbClr val="102A2E"/>
                </a:solidFill>
              </a:rPr>
              <a:t>SOLD 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BC313-2C50-43AA-8D0F-63AB7888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52650"/>
            <a:ext cx="1714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E3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FD3933-4306-43D2-A9A2-31CCED36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81250"/>
            <a:ext cx="1447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2E"/>
                </a:solidFill>
              </a:defRPr>
            </a:pPr>
            <a:r>
              <a:rPr sz="1425" b="1">
                <a:solidFill>
                  <a:srgbClr val="102A2E"/>
                </a:solidFill>
              </a:rPr>
              <a:t>RESTOCK WATCH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9BEFA9-D90D-4296-AC00-A1E64276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19550"/>
            <a:ext cx="9715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713393-3A37-440F-BBC1-E086CA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91000"/>
            <a:ext cx="9067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2E"/>
                </a:solidFill>
              </a:defRPr>
            </a:pPr>
            <a:r>
              <a:rPr sz="1575" b="1">
                <a:solidFill>
                  <a:srgbClr val="102A2E"/>
                </a:solidFill>
              </a:rPr>
              <a:t>Global availability can add context—but only Canadian evidence can trigger Live now or Sold out. Restock watch requires an explicit dated restock announcement.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E9A6C-6546-4CCD-8C06-8AB48C94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03666B-C7B2-47B0-873A-F5BE2F81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774D3-FC52-475F-9E69-E1031477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Weaker global evidence can never overwrite a stronger Canadian state.</a:t>
            </a:r>
          </a:p>
        </p:txBody>
      </p:sp>
    </p:spTree>
    <p:extLst>
      <p:ext uri="{BB962C8B-B14F-4D97-AF65-F5344CB8AC3E}">
        <p14:creationId xmlns:p14="http://schemas.microsoft.com/office/powerpoint/2010/main" val="860852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3D801F-B172-416C-80B3-0A5DFFC8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RELEASE RADAR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0BB16-2F47-4C12-BFA1-3E4D1873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Official reveal starts the highest-value monitoring window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DA2E-C3AD-4284-90E0-D649031D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3143250" cy="37909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D7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5ECE3-7334-4B2F-BE2E-CF4D9397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26098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7200" b="1">
                <a:solidFill>
                  <a:srgbClr val="102A2E"/>
                </a:solidFill>
              </a:defRPr>
            </a:pPr>
            <a:r>
              <a:rPr sz="7200" b="1">
                <a:solidFill>
                  <a:srgbClr val="102A2E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CC59D-5535-4ADE-A65C-F0E741B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2A2E"/>
                </a:solidFill>
              </a:defRPr>
            </a:pPr>
            <a:r>
              <a:rPr sz="2100" b="1">
                <a:solidFill>
                  <a:srgbClr val="102A2E"/>
                </a:solidFill>
              </a:rPr>
              <a:t>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EDA9B-A60B-4DF2-9F08-2D8690F1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2E"/>
                </a:solidFill>
              </a:defRPr>
            </a:pPr>
            <a:r>
              <a:rPr sz="1800" b="1">
                <a:solidFill>
                  <a:srgbClr val="102A2E"/>
                </a:solidFill>
              </a:rPr>
              <a:t>Median reveal → 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55940B-51D3-4E99-B0B8-D8867A33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571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365157"/>
                </a:solidFill>
              </a:defRPr>
            </a:pPr>
            <a:r>
              <a:rPr sz="1425">
                <a:solidFill>
                  <a:srgbClr val="365157"/>
                </a:solidFill>
              </a:rPr>
              <a:t>7 recent product waves</a:t>
            </a:r>
          </a:p>
          <a:p xmlns:a="http://schemas.openxmlformats.org/drawingml/2006/main">
            <a:pPr algn="ctr">
              <a:defRPr sz="1425">
                <a:solidFill>
                  <a:srgbClr val="365157"/>
                </a:solidFill>
              </a:defRPr>
            </a:pPr>
            <a:r>
              <a:rPr sz="1425">
                <a:solidFill>
                  <a:srgbClr val="365157"/>
                </a:solidFill>
              </a:rPr>
              <a:t>Observed range: 0–41 days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00690-5A6A-4B63-AA37-BD9A7EC5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53B89-14A2-4C62-BBA2-C6A2F724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051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157"/>
          </a:solidFill>
          <a:ln xmlns:a="http://schemas.openxmlformats.org/drawingml/2006/main" w="0">
            <a:solidFill>
              <a:srgbClr val="3651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B78CAF-3336-4D2B-8457-104D2D53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528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365157"/>
                </a:solidFill>
              </a:defRPr>
            </a:pPr>
            <a:r>
              <a:rPr sz="1050">
                <a:solidFill>
                  <a:srgbClr val="365157"/>
                </a:solidFill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79422-FC8B-41B2-A720-1195ED8A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920" y="31051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157"/>
          </a:solidFill>
          <a:ln xmlns:a="http://schemas.openxmlformats.org/drawingml/2006/main" w="0">
            <a:solidFill>
              <a:srgbClr val="3651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F07681-E36E-4C01-90B7-E328D8A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2470" y="33528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365157"/>
                </a:solidFill>
              </a:defRPr>
            </a:pPr>
            <a:r>
              <a:rPr sz="1050">
                <a:solidFill>
                  <a:srgbClr val="365157"/>
                </a:solidFill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49EF5B-E51A-4F0A-B7D8-B7F7ADF1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139" y="31051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157"/>
          </a:solidFill>
          <a:ln xmlns:a="http://schemas.openxmlformats.org/drawingml/2006/main" w="0">
            <a:solidFill>
              <a:srgbClr val="3651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77F10E-F2EC-40A7-ABC1-CBA752C6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8689" y="33528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365157"/>
                </a:solidFill>
              </a:defRPr>
            </a:pPr>
            <a:r>
              <a:rPr sz="1050">
                <a:solidFill>
                  <a:srgbClr val="365157"/>
                </a:solidFill>
              </a:rPr>
              <a:t>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E4D59E-6DEE-4C80-9427-B23356D2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359" y="31051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157"/>
          </a:solidFill>
          <a:ln xmlns:a="http://schemas.openxmlformats.org/drawingml/2006/main" w="0">
            <a:solidFill>
              <a:srgbClr val="3651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75D2EB-346B-4790-8EDE-5F6AB903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909" y="33528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365157"/>
                </a:solidFill>
              </a:defRPr>
            </a:pPr>
            <a:r>
              <a:rPr sz="1050">
                <a:solidFill>
                  <a:srgbClr val="365157"/>
                </a:solidFill>
              </a:rPr>
              <a:t>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62C9DC-1733-4E0B-873C-A3822D95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10515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157"/>
          </a:solidFill>
          <a:ln xmlns:a="http://schemas.openxmlformats.org/drawingml/2006/main" w="0">
            <a:solidFill>
              <a:srgbClr val="3651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ED37CA-0B49-4D8D-B8EA-503CC34B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3528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365157"/>
                </a:solidFill>
              </a:defRPr>
            </a:pPr>
            <a:r>
              <a:rPr sz="1050">
                <a:solidFill>
                  <a:srgbClr val="365157"/>
                </a:solidFill>
              </a:rPr>
              <a:t>41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34DD2-DE00-4B59-BE58-2352C2DD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BFCD20-4D43-4834-BB67-85A34B2F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526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Perfect Order · 0d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5DCE8-A123-4D5D-9D73-0C4EC742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4610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43CE51-25A0-4565-A7A1-A4D4545B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86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Mega Evolution · 5d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C3ABC8-E50F-4080-81AB-EA526C43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4610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FA849D-E87B-429A-B509-24A5E502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86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Ascended Heroes · 5d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2C7AD6-7B7F-4A85-A2E5-E27CC0B8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5585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67601D-11D6-4BD9-8F33-3EEE1899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835" y="20383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Phantasmal Flames · 13d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F135FF-20B8-49C5-AC4F-64EB4F09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829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5A53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393C2A-7A23-4521-A2A3-E5CEC58D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079" y="39433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30th Celebration · 15d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8B5BD9-3015-4C52-AA3E-B5D7B229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5402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AEB98B-79E7-4076-91CF-398192C3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652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Chaos Rising · 32d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A247F9-8A49-4E26-BB63-1006BA12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124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19050">
            <a:solidFill>
              <a:srgbClr val="102A2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3084D1-280B-4398-AF8C-C1744544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48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2E"/>
                </a:solidFill>
              </a:defRPr>
            </a:pPr>
            <a:r>
              <a:rPr sz="1125" b="1">
                <a:solidFill>
                  <a:srgbClr val="102A2E"/>
                </a:solidFill>
              </a:rPr>
              <a:t>Pitch Black · 41d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2EF2F3-D358-4C73-AD8F-19308729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957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D5A53"/>
                </a:solidFill>
              </a:defRPr>
            </a:pPr>
            <a:r>
              <a:rPr sz="1275" b="1">
                <a:solidFill>
                  <a:srgbClr val="ED5A53"/>
                </a:solidFill>
              </a:rPr>
              <a:t>Reveal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9EBA3C-DEDC-4F7B-A8AC-29924DA4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95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ED5A53"/>
                </a:solidFill>
              </a:defRPr>
            </a:pPr>
            <a:r>
              <a:rPr sz="1275" b="1">
                <a:solidFill>
                  <a:srgbClr val="ED5A53"/>
                </a:solidFill>
              </a:rPr>
              <a:t>Pokémon Center live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E4A2DE-DBBD-4225-B689-313FF0F8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3D0F46-9AF9-4FC6-868D-2F1AA860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0B48F8-A8BD-4744-A8BC-BA72B6BE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Official confirmation is the start signal: watch immediately, then keep monitoring.</a:t>
            </a:r>
          </a:p>
        </p:txBody>
      </p:sp>
    </p:spTree>
    <p:extLst>
      <p:ext uri="{BB962C8B-B14F-4D97-AF65-F5344CB8AC3E}">
        <p14:creationId xmlns:p14="http://schemas.microsoft.com/office/powerpoint/2010/main" val="1610772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4FD186-0D94-41F5-B065-75AA535C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D5A53"/>
                </a:solidFill>
              </a:defRPr>
            </a:pPr>
            <a:r>
              <a:rPr sz="900" b="1">
                <a:solidFill>
                  <a:srgbClr val="ED5A53"/>
                </a:solidFill>
              </a:rPr>
              <a:t>FRESHNESS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E50F1-38AA-4420-8E55-CB39B84E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2E"/>
                </a:solidFill>
              </a:defRPr>
            </a:pPr>
            <a:r>
              <a:rPr sz="2850" b="1">
                <a:solidFill>
                  <a:srgbClr val="102A2E"/>
                </a:solidFill>
              </a:rPr>
              <a:t>A launch notice is not proof that stock is still live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a0c17b3cc45e6"/>
          <a:srcRect xmlns:a="http://schemas.openxmlformats.org/drawingml/2006/main" l="0" t="11431" r="0" b="114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257300"/>
            <a:ext cx="5276850" cy="4400550"/>
          </a:xfrm>
          <a:prstGeom xmlns:a="http://schemas.openxmlformats.org/drawingml/2006/main" prst="roundRect">
            <a:avLst>
              <a:gd name="adj" fmla="val 2597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37F1B2-E018-4112-9DD4-5792FFC8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D5A53"/>
                </a:solidFill>
              </a:defRPr>
            </a:pPr>
            <a:r>
              <a:rPr sz="2700" b="1">
                <a:solidFill>
                  <a:srgbClr val="ED5A53"/>
                </a:solidFill>
              </a:rPr>
              <a:t>JULY 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3FB29-3E72-43DC-98EF-6E4C4E1D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2E"/>
                </a:solidFill>
              </a:defRPr>
            </a:pPr>
            <a:r>
              <a:rPr sz="1800" b="1">
                <a:solidFill>
                  <a:srgbClr val="102A2E"/>
                </a:solidFill>
              </a:rPr>
              <a:t>Walmart’s launch notice confirmed limited Canadian inventory.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D9B76-F68A-45A3-B19A-ADBC59CF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04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D5A53"/>
                </a:solidFill>
              </a:defRPr>
            </a:pPr>
            <a:r>
              <a:rPr sz="2700" b="1">
                <a:solidFill>
                  <a:srgbClr val="ED5A53"/>
                </a:solidFill>
              </a:rPr>
              <a:t>JULY 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FB7EE-6112-4B4A-BA98-08CEEFF1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57600"/>
            <a:ext cx="4476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2E"/>
                </a:solidFill>
              </a:defRPr>
            </a:pPr>
            <a:r>
              <a:rPr sz="1800" b="1">
                <a:solidFill>
                  <a:srgbClr val="102A2E"/>
                </a:solidFill>
              </a:rPr>
              <a:t>The opportunity was reported sold out, so it moved from the active radar into the Canadian availability record.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CF979-CE06-4B4D-8ED3-11B99868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84933-87DC-4A12-9FD6-B7ECD6D0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F5B754-5778-427A-89FA-225D29D1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Availability is always a dated observation—not a permanent guarantee.</a:t>
            </a:r>
          </a:p>
        </p:txBody>
      </p:sp>
    </p:spTree>
    <p:extLst>
      <p:ext uri="{BB962C8B-B14F-4D97-AF65-F5344CB8AC3E}">
        <p14:creationId xmlns:p14="http://schemas.microsoft.com/office/powerpoint/2010/main" val="4359944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A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D3BA80-8339-4E54-8B93-2F18B104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D74B"/>
                </a:solidFill>
              </a:defRPr>
            </a:pPr>
            <a:r>
              <a:rPr sz="975" b="1">
                <a:solidFill>
                  <a:srgbClr val="FFD74B"/>
                </a:solidFill>
              </a:rPr>
              <a:t>RESPONSIBLE BY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9A728-3421-4D0D-BB12-AE2B7A72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Useful alerts without purchase automation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C67AE-10B7-4D17-9DF4-21FA997A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0E41D-F715-438B-B289-03213100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609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D5A53"/>
                </a:solidFill>
              </a:defRPr>
            </a:pPr>
            <a:r>
              <a:rPr sz="2400" b="1">
                <a:solidFill>
                  <a:srgbClr val="ED5A53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673D7-E3C3-4B5E-BD65-B13C9633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A2E"/>
                </a:solidFill>
              </a:defRPr>
            </a:pPr>
            <a:r>
              <a:rPr sz="1650" b="1">
                <a:solidFill>
                  <a:srgbClr val="102A2E"/>
                </a:solidFill>
              </a:rPr>
              <a:t>PUBLIC 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FBF26F-61C9-479B-8F3F-08419F73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65157"/>
                </a:solidFill>
              </a:defRPr>
            </a:pPr>
            <a:r>
              <a:rPr sz="1500">
                <a:solidFill>
                  <a:srgbClr val="365157"/>
                </a:solidFill>
              </a:rPr>
              <a:t>Every claim links to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C57AF0-13CB-4169-9675-4536AF7E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240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90167D-4A5D-4D9B-A64C-11C14B52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71700"/>
            <a:ext cx="609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D5A53"/>
                </a:solidFill>
              </a:defRPr>
            </a:pPr>
            <a:r>
              <a:rPr sz="2400" b="1">
                <a:solidFill>
                  <a:srgbClr val="ED5A53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1EB10-1CF2-425D-93FC-9F9EAA4A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0035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A2E"/>
                </a:solidFill>
              </a:defRPr>
            </a:pPr>
            <a:r>
              <a:rPr sz="1650" b="1">
                <a:solidFill>
                  <a:srgbClr val="102A2E"/>
                </a:solidFill>
              </a:rPr>
              <a:t>NO QUEUE BYPASS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E5E6C-45F1-4563-A911-56B519D1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480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65157"/>
                </a:solidFill>
              </a:defRPr>
            </a:pPr>
            <a:r>
              <a:rPr sz="1500">
                <a:solidFill>
                  <a:srgbClr val="365157"/>
                </a:solidFill>
              </a:rPr>
              <a:t>No bots and no automated buying.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500F0-B0B3-42DD-9ACD-DC760B3D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924050"/>
            <a:ext cx="3333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D7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395C18-87B0-48AA-A969-4BD82BEC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71700"/>
            <a:ext cx="609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ED5A53"/>
                </a:solidFill>
              </a:defRPr>
            </a:pPr>
            <a:r>
              <a:rPr sz="2400" b="1">
                <a:solidFill>
                  <a:srgbClr val="ED5A53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71ACAC-FC4A-4CC6-B5FE-8B9728D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035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A2E"/>
                </a:solidFill>
              </a:defRPr>
            </a:pPr>
            <a:r>
              <a:rPr sz="1650" b="1">
                <a:solidFill>
                  <a:srgbClr val="102A2E"/>
                </a:solidFill>
              </a:rPr>
              <a:t>ZERO HOSTED API COST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7789C-C15C-4ABE-B83E-0A5FB706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480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65157"/>
                </a:solidFill>
              </a:defRPr>
            </a:pPr>
            <a:r>
              <a:rPr sz="1500">
                <a:solidFill>
                  <a:srgbClr val="365157"/>
                </a:solidFill>
              </a:rPr>
              <a:t>GitHub Actions receives no OpenAI key.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CAE35-9E8E-47BC-9B20-09099082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33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Local GPT remains optional and cached to avoid repeated calls.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CF1341-6068-4352-A983-51F4D1C6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8170A6-181C-4D16-937D-BF78317C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A2E"/>
                </a:solidFill>
              </a:defRPr>
            </a:pPr>
            <a:r>
              <a:rPr sz="1650" b="1">
                <a:solidFill>
                  <a:srgbClr val="102A2E"/>
                </a:solidFill>
              </a:rPr>
              <a:t>No API key, secret value, or personal browser content appears in this demo.</a:t>
            </a:r>
          </a:p>
        </p:txBody>
      </p:sp>
    </p:spTree>
    <p:extLst>
      <p:ext uri="{BB962C8B-B14F-4D97-AF65-F5344CB8AC3E}">
        <p14:creationId xmlns:p14="http://schemas.microsoft.com/office/powerpoint/2010/main" val="3556838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8582D-6C33-462C-904D-BB298388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85800"/>
            <a:ext cx="1409700" cy="1409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5A53"/>
          </a:solidFill>
          <a:ln xmlns:a="http://schemas.openxmlformats.org/drawingml/2006/main" w="95250">
            <a:solidFill>
              <a:srgbClr val="102A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DF767-5E8D-4164-A3F3-030F3EAD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0492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6CBAC-F974-48FD-9477-9B9D4764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0668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95250">
            <a:solidFill>
              <a:srgbClr val="102A2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76D8B-CB06-4BDC-A992-87A94EE5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43150"/>
            <a:ext cx="7620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02A2E"/>
                </a:solidFill>
              </a:defRPr>
            </a:pPr>
            <a:r>
              <a:rPr sz="4350" b="1">
                <a:solidFill>
                  <a:srgbClr val="102A2E"/>
                </a:solidFill>
              </a:rPr>
              <a:t>PokéStock Canada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AC14A-BF1F-441A-874D-2F449B81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14325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D5A53"/>
                </a:solidFill>
              </a:defRPr>
            </a:pPr>
            <a:r>
              <a:rPr sz="2100" b="1">
                <a:solidFill>
                  <a:srgbClr val="ED5A53"/>
                </a:solidFill>
              </a:rPr>
              <a:t>Earlier signals. Clear evidence. A fairer chance to collect.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E1372-4937-4115-A1E1-69DE075C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95750"/>
            <a:ext cx="7429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D7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E8EB0-7187-453C-B302-205CD715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100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2E"/>
                </a:solidFill>
              </a:defRPr>
            </a:pPr>
            <a:r>
              <a:rPr sz="1800" b="1">
                <a:solidFill>
                  <a:srgbClr val="102A2E"/>
                </a:solidFill>
              </a:rPr>
              <a:t>hansun103.github.io/pokestock-canada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6542E3-8591-4A22-91E6-775724ED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800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365157"/>
                </a:solidFill>
              </a:defRPr>
            </a:pPr>
            <a:r>
              <a:rPr sz="1425">
                <a:solidFill>
                  <a:srgbClr val="365157"/>
                </a:solidFill>
              </a:rPr>
              <a:t>Source-linked release intelligence for Canadian Pokémon TCG collectors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7976B-102D-463A-BA08-28F51BB8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2E"/>
          </a:solidFill>
          <a:ln xmlns:a="http://schemas.openxmlformats.org/drawingml/2006/main" w="0">
            <a:solidFill>
              <a:srgbClr val="102A2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CCC06E-5EDC-4DB9-ABD3-E42FDB73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4B"/>
          </a:solidFill>
          <a:ln xmlns:a="http://schemas.openxmlformats.org/drawingml/2006/main" w="0">
            <a:solidFill>
              <a:srgbClr val="FFD7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13B3D-21D7-4208-BB19-E0EA604F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34100"/>
            <a:ext cx="10525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Prepare, watch, and verify before buying.</a:t>
            </a:r>
          </a:p>
        </p:txBody>
      </p:sp>
    </p:spTree>
    <p:extLst>
      <p:ext uri="{BB962C8B-B14F-4D97-AF65-F5344CB8AC3E}">
        <p14:creationId xmlns:p14="http://schemas.microsoft.com/office/powerpoint/2010/main" val="8243280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2026-07-18T20:01:24.0270000Z</dcterms:created>
  <dcterms:modified xsi:type="dcterms:W3CDTF">2026-07-18T20:01:24.0270000Z</dcterms:modified>
</coreProperties>
</file>